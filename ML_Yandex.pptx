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65" r:id="rId13"/>
    <p:sldId id="270" r:id="rId14"/>
    <p:sldId id="266" r:id="rId15"/>
    <p:sldId id="267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14" autoAdjust="0"/>
  </p:normalViewPr>
  <p:slideViewPr>
    <p:cSldViewPr snapToGrid="0">
      <p:cViewPr>
        <p:scale>
          <a:sx n="100" d="100"/>
          <a:sy n="100" d="100"/>
        </p:scale>
        <p:origin x="216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F235E-19F1-4E2C-9B49-A3F838C65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DEE6E3-1D35-4439-A0D4-4F6BA0B4D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48D03B-DEC8-4E9B-95D0-540627CF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915D4-E151-4C2D-8DB8-B071FD585A4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84E533-EA04-40EE-A516-DB90C0E2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2BB5-9EF8-4C99-A111-7E0B82F0C48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AutoShape 2" descr="blob:https://web.telegram.org/c34a5da3-1ce7-4a6d-a915-511af8439107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6" descr="blob:https://web.telegram.org/c34a5da3-1ce7-4a6d-a915-511af8439107"/>
          <p:cNvSpPr>
            <a:spLocks noChangeAspect="1" noChangeArrowheads="1"/>
          </p:cNvSpPr>
          <p:nvPr userDrawn="1"/>
        </p:nvSpPr>
        <p:spPr bwMode="auto">
          <a:xfrm>
            <a:off x="307975" y="7937"/>
            <a:ext cx="2975552" cy="297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AutoShape 8" descr="blob:https://web.telegram.org/c34a5da3-1ce7-4a6d-a915-511af8439107"/>
          <p:cNvSpPr>
            <a:spLocks noChangeAspect="1" noChangeArrowheads="1"/>
          </p:cNvSpPr>
          <p:nvPr userDrawn="1"/>
        </p:nvSpPr>
        <p:spPr bwMode="auto">
          <a:xfrm>
            <a:off x="3318568" y="7251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7289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BF8557-608B-473C-A9BD-9B2201F7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719143-6A68-4685-BB31-E9EB9317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915D4-E151-4C2D-8DB8-B071FD585A4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29BE9A-43C4-400F-B05D-3143053AD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50609-6432-4B0A-97CE-F907B5F8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C5152BB5-9EF8-4C99-A111-7E0B82F0C4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565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22851-A156-4320-8B78-82A344E0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5861C3-666B-4CB2-8453-E59BAFDA3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F1241E-84C5-4CF6-9905-6D4A93A7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915D4-E151-4C2D-8DB8-B071FD585A4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59AA7E-F9D3-4B7C-83CF-C5A1055F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859615-2404-4038-87A2-6439836B3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2BB5-9EF8-4C99-A111-7E0B82F0C4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120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2E1B41-AA5B-4456-B788-0B7A8AE16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AD0CB5-2744-496B-B19D-560BDEBD4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918799-BAD5-4142-A7A0-588E09410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DBE5B0-283F-4886-85A8-B81F23DC4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915D4-E151-4C2D-8DB8-B071FD585A4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7A667F-A3A3-40B8-864D-08D38711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79FDE3-849D-44A4-A233-6A1B44B20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2BB5-9EF8-4C99-A111-7E0B82F0C4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0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28F4E-F4DD-4EDE-8204-50D58225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E65255-8045-4446-B532-0B59564C9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B38D6B-FF3A-4BF2-A8C3-4DBC6EADC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8A6082-846A-4143-9B1E-D5C659EDF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E27F924-34EE-4B9B-ABA1-C56B19284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EE24462-1AA1-40B8-B210-C25C56C4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915D4-E151-4C2D-8DB8-B071FD585A4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0871207-5A6A-468A-B1A8-6CA38AD09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4DDEB0A-3DD6-4383-AD59-0C10DE597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2BB5-9EF8-4C99-A111-7E0B82F0C4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46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E56687-5F9A-4B22-85E9-E6B0FDC2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5B3ABE7-102C-48EB-9A92-8BE3DC2C6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915D4-E151-4C2D-8DB8-B071FD585A4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77D1955-BCFD-40FF-8316-AB2C8DC37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1F9506-74C3-4243-83C9-BFB92428C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2BB5-9EF8-4C99-A111-7E0B82F0C4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44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2FCEDC-228F-4C18-95DC-BE65ED2D6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915D4-E151-4C2D-8DB8-B071FD585A4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724D4B8-38C4-45B4-B024-A8CE4B77F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2F880E-A0B5-431E-A0AF-7152AB71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2BB5-9EF8-4C99-A111-7E0B82F0C4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97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7CCA36-EA02-4957-9F73-14532F7C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B1C412-8FBC-4B4A-9488-FABD73813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ED914F-1EA3-4C98-B073-CB87127E6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5512D4-F2B7-4839-84FF-E58115131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915D4-E151-4C2D-8DB8-B071FD585A4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C3C3EC-9B3E-4DB9-BFDD-7E8DB0005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77368A-81FC-457D-8808-76CFFC192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2BB5-9EF8-4C99-A111-7E0B82F0C4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71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044DD0-DA5E-4DD8-824D-CEFD426AD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57F005F-4BA0-4F40-944F-0BE4497209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1DEF2A-AA65-478E-843D-115F0D03E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A2907E-2BA1-4E83-8A10-E86005007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915D4-E151-4C2D-8DB8-B071FD585A4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F9B648-F2DF-440F-9FD7-06C6176C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A16544-AC01-452E-BE78-8549B861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2BB5-9EF8-4C99-A111-7E0B82F0C4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58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0FC85B-0B42-44D0-8D8A-B2E12E874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C71837-355A-471B-8646-6E824DE8C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A029C6-6406-4020-95BE-788461EC3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915D4-E151-4C2D-8DB8-B071FD585A4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294D26-A50E-4BA2-84D9-FB44DB1C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3B76E3-F90E-4FBC-B114-69A88FC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2BB5-9EF8-4C99-A111-7E0B82F0C4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735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0189FDF-5AB8-4245-A73C-03800686D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BBAB8F-5E68-48C7-95F3-1D739ECEC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AF80A3-3279-4B13-AA7C-09508920C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915D4-E151-4C2D-8DB8-B071FD585A4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C189B8-6AE3-4165-A547-016E49727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AC1531-C9A9-4A21-B553-9B00754B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2BB5-9EF8-4C99-A111-7E0B82F0C4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34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539308" y="5860302"/>
            <a:ext cx="3814492" cy="81270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C01CBB-EA93-4DFA-8D03-636B3A4C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C48295-1E43-4B88-8D27-13A7EF5E3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EC474E-27E1-4FA1-B909-DA8AC74EA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915D4-E151-4C2D-8DB8-B071FD585A4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189773-DCD7-4B2E-951B-13B9A2B46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8F58AA-88B9-43CD-B66B-46FA4C474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52BB5-9EF8-4C99-A111-7E0B82F0C4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7210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0537DF-763F-45F2-A191-E1E225D953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Защита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91FFBB-197F-42E0-BED4-B2CE83237A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 err="1"/>
              <a:t>W_team</a:t>
            </a:r>
            <a:r>
              <a:rPr lang="en-US" dirty="0"/>
              <a:t> 12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825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094919" y="2150646"/>
            <a:ext cx="3097081" cy="36948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75B024-1717-41C9-B1C9-8AF389366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0F7077-649A-4ED9-B7BF-95BFCBD2C7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150646"/>
            <a:ext cx="10515600" cy="271028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Убираем шум</a:t>
            </a:r>
            <a:endParaRPr lang="ru-RU" sz="3200" dirty="0"/>
          </a:p>
          <a:p>
            <a:r>
              <a:rPr lang="ru-RU" sz="3200" dirty="0" smtClean="0"/>
              <a:t>Решаем дисбаланс классов </a:t>
            </a:r>
            <a:endParaRPr lang="ru-RU" sz="3200" dirty="0"/>
          </a:p>
          <a:p>
            <a:r>
              <a:rPr lang="ru-RU" sz="3200" dirty="0"/>
              <a:t>Выбор лучшей модели для классификации</a:t>
            </a:r>
          </a:p>
          <a:p>
            <a:r>
              <a:rPr lang="ru-RU" sz="3200" dirty="0"/>
              <a:t>Доработка лучшей модели</a:t>
            </a:r>
          </a:p>
          <a:p>
            <a:endParaRPr lang="ru-RU" sz="3200" dirty="0"/>
          </a:p>
          <a:p>
            <a:endParaRPr lang="ru-RU" sz="3200" dirty="0"/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5559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D7650-84ED-4153-AD14-F5DD7DC0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Способы очистки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E3F380D-C37A-444F-9C85-12DBFBCF3A1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103314"/>
            <a:ext cx="10515600" cy="2651372"/>
          </a:xfrm>
        </p:spPr>
        <p:txBody>
          <a:bodyPr/>
          <a:lstStyle/>
          <a:p>
            <a:r>
              <a:rPr lang="en-US" dirty="0" err="1"/>
              <a:t>Unet</a:t>
            </a:r>
            <a:endParaRPr lang="en-US" dirty="0"/>
          </a:p>
          <a:p>
            <a:r>
              <a:rPr lang="en-US" dirty="0" err="1"/>
              <a:t>Unet</a:t>
            </a:r>
            <a:r>
              <a:rPr lang="en-US" dirty="0"/>
              <a:t> + N2V</a:t>
            </a:r>
          </a:p>
          <a:p>
            <a:r>
              <a:rPr lang="en-US" dirty="0" err="1"/>
              <a:t>ResNet</a:t>
            </a:r>
            <a:endParaRPr lang="en-US" dirty="0"/>
          </a:p>
          <a:p>
            <a:r>
              <a:rPr lang="en-US" dirty="0" err="1"/>
              <a:t>ResNet</a:t>
            </a:r>
            <a:r>
              <a:rPr lang="en-US" dirty="0"/>
              <a:t> + N2V</a:t>
            </a:r>
          </a:p>
          <a:p>
            <a:r>
              <a:rPr lang="ru-RU" dirty="0"/>
              <a:t>Среднее пикселей вокруг шумного пикселя</a:t>
            </a:r>
          </a:p>
        </p:txBody>
      </p:sp>
    </p:spTree>
    <p:extLst>
      <p:ext uri="{BB962C8B-B14F-4D97-AF65-F5344CB8AC3E}">
        <p14:creationId xmlns:p14="http://schemas.microsoft.com/office/powerpoint/2010/main" val="192225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E46377-E292-48B8-8796-E2D920015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0025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UNet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F75524-2224-4BE5-BF78-B4D08091A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18" y="1218406"/>
            <a:ext cx="8731962" cy="451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3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25E52-DB22-41EC-8E10-B1FD98A35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161925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UNet</a:t>
            </a:r>
            <a:r>
              <a:rPr lang="en-US" dirty="0"/>
              <a:t> + N2V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068DDF2-AAC2-477C-8D4D-E7C1E115553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1730019" y="1218379"/>
            <a:ext cx="8731962" cy="451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78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07F8063A-4068-4838-95F2-3ED3B790F65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730018" y="1256479"/>
            <a:ext cx="8731963" cy="451040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BD047-FB5F-4D80-92F5-8585FA4D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ResNet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9112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7422D-08D4-44CC-9700-A489615CF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ResNet</a:t>
            </a:r>
            <a:r>
              <a:rPr lang="en-US" dirty="0"/>
              <a:t> + N2V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6C39168-2268-4753-9B4B-F9A539798AD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828800" y="1248268"/>
            <a:ext cx="8634000" cy="445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05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8879B7-A3AE-42E7-8464-AF7038A19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Среднее пикселей вокруг шумного пикселя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D6535C6-8EE0-4842-B7E9-532A2D685E6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814231" y="1296988"/>
            <a:ext cx="8626856" cy="445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7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3FC50-547E-4B1F-935C-6EC5D19F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Лучший способ</a:t>
            </a:r>
          </a:p>
        </p:txBody>
      </p:sp>
      <p:pic>
        <p:nvPicPr>
          <p:cNvPr id="5" name="Объект 3">
            <a:extLst>
              <a:ext uri="{FF2B5EF4-FFF2-40B4-BE49-F238E27FC236}">
                <a16:creationId xmlns:a16="http://schemas.microsoft.com/office/drawing/2014/main" id="{FD6535C6-8EE0-4842-B7E9-532A2D685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231" y="1296988"/>
            <a:ext cx="8626856" cy="445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2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Дисбаланс класса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591" y="1994633"/>
            <a:ext cx="3352509" cy="22264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50" y="2075543"/>
            <a:ext cx="3139244" cy="2064656"/>
          </a:xfrm>
          <a:prstGeom prst="rect">
            <a:avLst/>
          </a:prstGeom>
        </p:spPr>
      </p:pic>
      <p:grpSp>
        <p:nvGrpSpPr>
          <p:cNvPr id="14" name="Группа 13"/>
          <p:cNvGrpSpPr/>
          <p:nvPr/>
        </p:nvGrpSpPr>
        <p:grpSpPr>
          <a:xfrm>
            <a:off x="4101148" y="1865253"/>
            <a:ext cx="3590290" cy="2667000"/>
            <a:chOff x="3824923" y="1865252"/>
            <a:chExt cx="3590290" cy="2667000"/>
          </a:xfrm>
        </p:grpSpPr>
        <p:sp>
          <p:nvSpPr>
            <p:cNvPr id="12" name="Стрелка вниз 11"/>
            <p:cNvSpPr/>
            <p:nvPr/>
          </p:nvSpPr>
          <p:spPr>
            <a:xfrm rot="16200000">
              <a:off x="4286568" y="1403607"/>
              <a:ext cx="2667000" cy="3590290"/>
            </a:xfrm>
            <a:prstGeom prst="downArrow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 smtClean="0"/>
                <a:t>к</a:t>
              </a:r>
              <a:endParaRPr lang="ru-RU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031298" y="2773680"/>
              <a:ext cx="31775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Bahnschrift SemiBold" panose="020B0502040204020203" pitchFamily="34" charset="0"/>
                </a:rPr>
                <a:t>Аугментация</a:t>
              </a:r>
              <a:endParaRPr lang="ru-RU" dirty="0" smtClean="0">
                <a:latin typeface="Bahnschrift SemiBold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816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моделей</a:t>
            </a:r>
            <a:endParaRPr lang="ru-RU" dirty="0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76274" y="1508125"/>
            <a:ext cx="7658101" cy="4025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60000"/>
              </a:lnSpc>
            </a:pPr>
            <a:r>
              <a:rPr lang="en-US" sz="3200" dirty="0" smtClean="0">
                <a:latin typeface="Lucida Console" panose="020B0609040504020204" pitchFamily="49" charset="0"/>
              </a:rPr>
              <a:t>Resnet18       0.96645</a:t>
            </a:r>
            <a:endParaRPr lang="ru-RU" sz="3200" dirty="0" smtClean="0">
              <a:latin typeface="Lucida Console" panose="020B0609040504020204" pitchFamily="49" charset="0"/>
            </a:endParaRPr>
          </a:p>
          <a:p>
            <a:pPr>
              <a:lnSpc>
                <a:spcPct val="60000"/>
              </a:lnSpc>
            </a:pPr>
            <a:endParaRPr lang="ru-RU" sz="3200" dirty="0" smtClean="0">
              <a:latin typeface="Lucida Console" panose="020B0609040504020204" pitchFamily="49" charset="0"/>
            </a:endParaRPr>
          </a:p>
          <a:p>
            <a:pPr>
              <a:lnSpc>
                <a:spcPct val="60000"/>
              </a:lnSpc>
            </a:pPr>
            <a:r>
              <a:rPr lang="en-US" sz="3200" dirty="0" smtClean="0">
                <a:latin typeface="Lucida Console" panose="020B0609040504020204" pitchFamily="49" charset="0"/>
              </a:rPr>
              <a:t>Inception v1   0.96796</a:t>
            </a:r>
            <a:endParaRPr lang="ru-RU" sz="3200" dirty="0" smtClean="0">
              <a:latin typeface="Lucida Console" panose="020B0609040504020204" pitchFamily="49" charset="0"/>
            </a:endParaRPr>
          </a:p>
          <a:p>
            <a:pPr>
              <a:lnSpc>
                <a:spcPct val="60000"/>
              </a:lnSpc>
            </a:pPr>
            <a:endParaRPr lang="ru-RU" sz="3200" dirty="0" smtClean="0">
              <a:latin typeface="Lucida Console" panose="020B0609040504020204" pitchFamily="49" charset="0"/>
            </a:endParaRPr>
          </a:p>
          <a:p>
            <a:pPr>
              <a:lnSpc>
                <a:spcPct val="60000"/>
              </a:lnSpc>
            </a:pPr>
            <a:r>
              <a:rPr lang="en-US" sz="3200" dirty="0" smtClean="0">
                <a:latin typeface="Lucida Console" panose="020B0609040504020204" pitchFamily="49" charset="0"/>
              </a:rPr>
              <a:t>Resnet50       0.96610</a:t>
            </a:r>
            <a:endParaRPr lang="ru-RU" sz="3200" dirty="0" smtClean="0">
              <a:latin typeface="Lucida Console" panose="020B0609040504020204" pitchFamily="49" charset="0"/>
            </a:endParaRPr>
          </a:p>
          <a:p>
            <a:pPr>
              <a:lnSpc>
                <a:spcPct val="60000"/>
              </a:lnSpc>
            </a:pPr>
            <a:endParaRPr lang="en-US" sz="3200" dirty="0" smtClean="0">
              <a:latin typeface="Lucida Console" panose="020B0609040504020204" pitchFamily="49" charset="0"/>
            </a:endParaRPr>
          </a:p>
          <a:p>
            <a:pPr>
              <a:lnSpc>
                <a:spcPct val="60000"/>
              </a:lnSpc>
            </a:pPr>
            <a:r>
              <a:rPr lang="en-US" sz="3200" dirty="0" smtClean="0">
                <a:latin typeface="Lucida Console" panose="020B0609040504020204" pitchFamily="49" charset="0"/>
              </a:rPr>
              <a:t>Inception v3   0.96</a:t>
            </a:r>
            <a:r>
              <a:rPr lang="ru-RU" sz="3200" dirty="0" smtClean="0">
                <a:latin typeface="Lucida Console" panose="020B0609040504020204" pitchFamily="49" charset="0"/>
              </a:rPr>
              <a:t>934</a:t>
            </a:r>
            <a:endParaRPr lang="ru-RU" sz="3200" dirty="0">
              <a:latin typeface="Lucida Console" panose="020B0609040504020204" pitchFamily="49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 flipV="1">
            <a:off x="676274" y="2828925"/>
            <a:ext cx="5419726" cy="95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704849" y="3448050"/>
            <a:ext cx="5419726" cy="95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714374" y="3981450"/>
            <a:ext cx="5419726" cy="95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808" y="443045"/>
            <a:ext cx="4191410" cy="4252648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4505324" y="4695693"/>
            <a:ext cx="1883465" cy="675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/>
              <a:t>(Public score)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5111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77801D-2C7B-4DB9-9423-708C75ED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Выбор лучшей модели для классификации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0008C8D-08E1-4AD6-8849-79BDC7A4AC5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917411" y="1531031"/>
            <a:ext cx="7436389" cy="4140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44CCE5-9EE1-4167-B126-72BCC4DF7203}"/>
              </a:ext>
            </a:extLst>
          </p:cNvPr>
          <p:cNvSpPr txBox="1"/>
          <p:nvPr/>
        </p:nvSpPr>
        <p:spPr>
          <a:xfrm>
            <a:off x="835203" y="3376015"/>
            <a:ext cx="30852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Inception V1</a:t>
            </a:r>
            <a:endParaRPr lang="ru-RU" sz="4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554738" y="6005789"/>
            <a:ext cx="4236266" cy="28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6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4350" y="0"/>
            <a:ext cx="3314700" cy="1325563"/>
          </a:xfrm>
        </p:spPr>
        <p:txBody>
          <a:bodyPr/>
          <a:lstStyle/>
          <a:p>
            <a:r>
              <a:rPr lang="en-US" dirty="0" smtClean="0"/>
              <a:t>Inception v1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477801D-2C7B-4DB9-9423-708C75ED0BE2}"/>
              </a:ext>
            </a:extLst>
          </p:cNvPr>
          <p:cNvSpPr txBox="1">
            <a:spLocks/>
          </p:cNvSpPr>
          <p:nvPr/>
        </p:nvSpPr>
        <p:spPr>
          <a:xfrm>
            <a:off x="350520" y="1258888"/>
            <a:ext cx="6686550" cy="4579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ru-RU" sz="2800" dirty="0" smtClean="0">
                <a:latin typeface="Lucida Console" panose="020B0609040504020204" pitchFamily="49" charset="0"/>
              </a:rPr>
              <a:t>Обученный на шуме</a:t>
            </a:r>
            <a:r>
              <a:rPr lang="en-US" sz="2800" dirty="0" smtClean="0">
                <a:latin typeface="Lucida Console" panose="020B0609040504020204" pitchFamily="49" charset="0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sz="2800" dirty="0" smtClean="0">
                <a:latin typeface="Lucida Console" panose="020B0609040504020204" pitchFamily="49" charset="0"/>
              </a:rPr>
              <a:t> </a:t>
            </a:r>
            <a:r>
              <a:rPr lang="ru-RU" sz="2800" dirty="0" smtClean="0">
                <a:latin typeface="Lucida Console" panose="020B0609040504020204" pitchFamily="49" charset="0"/>
              </a:rPr>
              <a:t>Шумный </a:t>
            </a:r>
            <a:r>
              <a:rPr lang="ru-RU" sz="2800" dirty="0" err="1" smtClean="0">
                <a:latin typeface="Lucida Console" panose="020B0609040504020204" pitchFamily="49" charset="0"/>
              </a:rPr>
              <a:t>датасет</a:t>
            </a:r>
            <a:r>
              <a:rPr lang="ru-RU" sz="2800" dirty="0" smtClean="0">
                <a:latin typeface="Lucida Console" panose="020B0609040504020204" pitchFamily="49" charset="0"/>
              </a:rPr>
              <a:t> 0.94547</a:t>
            </a:r>
            <a:r>
              <a:rPr lang="en-US" sz="2800" dirty="0">
                <a:latin typeface="Lucida Console" panose="020B0609040504020204" pitchFamily="49" charset="0"/>
              </a:rPr>
              <a:t> 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</a:rPr>
              <a:t>(+0.22)</a:t>
            </a:r>
            <a:endParaRPr lang="ru-RU" sz="2000" dirty="0" smtClean="0">
              <a:solidFill>
                <a:schemeClr val="accent6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800" dirty="0" smtClean="0">
                <a:latin typeface="Lucida Console" panose="020B0609040504020204" pitchFamily="49" charset="0"/>
              </a:rPr>
              <a:t> </a:t>
            </a:r>
            <a:r>
              <a:rPr lang="ru-RU" sz="2800" dirty="0" smtClean="0">
                <a:latin typeface="Lucida Console" panose="020B0609040504020204" pitchFamily="49" charset="0"/>
              </a:rPr>
              <a:t>Чистый </a:t>
            </a:r>
            <a:r>
              <a:rPr lang="ru-RU" sz="2800" dirty="0" err="1" smtClean="0">
                <a:latin typeface="Lucida Console" panose="020B0609040504020204" pitchFamily="49" charset="0"/>
              </a:rPr>
              <a:t>датасет</a:t>
            </a:r>
            <a:r>
              <a:rPr lang="ru-RU" sz="2800" dirty="0" smtClean="0">
                <a:latin typeface="Lucida Console" panose="020B0609040504020204" pitchFamily="49" charset="0"/>
              </a:rPr>
              <a:t> 0.92347</a:t>
            </a:r>
            <a:endParaRPr lang="en-US" sz="2800" dirty="0" smtClean="0">
              <a:latin typeface="Lucida Console" panose="020B0609040504020204" pitchFamily="49" charset="0"/>
            </a:endParaRPr>
          </a:p>
          <a:p>
            <a:endParaRPr lang="en-US" sz="2800" dirty="0" smtClean="0">
              <a:latin typeface="Lucida Console" panose="020B0609040504020204" pitchFamily="49" charset="0"/>
            </a:endParaRPr>
          </a:p>
          <a:p>
            <a:endParaRPr lang="ru-RU" sz="2800" dirty="0" smtClean="0">
              <a:latin typeface="Lucida Console" panose="020B0609040504020204" pitchFamily="49" charset="0"/>
            </a:endParaRPr>
          </a:p>
          <a:p>
            <a:pPr>
              <a:lnSpc>
                <a:spcPct val="200000"/>
              </a:lnSpc>
            </a:pPr>
            <a:r>
              <a:rPr lang="ru-RU" sz="2800" dirty="0" smtClean="0">
                <a:latin typeface="Lucida Console" panose="020B0609040504020204" pitchFamily="49" charset="0"/>
              </a:rPr>
              <a:t>Обученный на чистых</a:t>
            </a:r>
            <a:r>
              <a:rPr lang="en-US" sz="2800" dirty="0" smtClean="0">
                <a:latin typeface="Lucida Console" panose="020B0609040504020204" pitchFamily="49" charset="0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sz="2800" dirty="0" smtClean="0">
                <a:latin typeface="Lucida Console" panose="020B0609040504020204" pitchFamily="49" charset="0"/>
              </a:rPr>
              <a:t> </a:t>
            </a:r>
            <a:r>
              <a:rPr lang="ru-RU" sz="2800" dirty="0" smtClean="0">
                <a:latin typeface="Lucida Console" panose="020B0609040504020204" pitchFamily="49" charset="0"/>
              </a:rPr>
              <a:t>Шумный </a:t>
            </a:r>
            <a:r>
              <a:rPr lang="ru-RU" sz="2800" dirty="0" err="1" smtClean="0">
                <a:latin typeface="Lucida Console" panose="020B0609040504020204" pitchFamily="49" charset="0"/>
              </a:rPr>
              <a:t>датасет</a:t>
            </a:r>
            <a:r>
              <a:rPr lang="ru-RU" sz="2800" dirty="0" smtClean="0">
                <a:latin typeface="Lucida Console" panose="020B0609040504020204" pitchFamily="49" charset="0"/>
              </a:rPr>
              <a:t> 0.</a:t>
            </a:r>
            <a:r>
              <a:rPr lang="en-US" sz="2800" dirty="0" smtClean="0">
                <a:latin typeface="Lucida Console" panose="020B0609040504020204" pitchFamily="49" charset="0"/>
              </a:rPr>
              <a:t>82174 </a:t>
            </a:r>
            <a:r>
              <a:rPr lang="en-US" sz="2000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(-0.146)</a:t>
            </a:r>
            <a:r>
              <a:rPr lang="en-US" sz="2400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 </a:t>
            </a:r>
            <a:endParaRPr lang="ru-RU" sz="2800" dirty="0" smtClean="0">
              <a:solidFill>
                <a:srgbClr val="C000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800" dirty="0" smtClean="0">
                <a:latin typeface="Lucida Console" panose="020B0609040504020204" pitchFamily="49" charset="0"/>
              </a:rPr>
              <a:t> </a:t>
            </a:r>
            <a:r>
              <a:rPr lang="ru-RU" sz="2800" dirty="0" smtClean="0">
                <a:latin typeface="Lucida Console" panose="020B0609040504020204" pitchFamily="49" charset="0"/>
              </a:rPr>
              <a:t>Чистый </a:t>
            </a:r>
            <a:r>
              <a:rPr lang="ru-RU" sz="2800" dirty="0" err="1" smtClean="0">
                <a:latin typeface="Lucida Console" panose="020B0609040504020204" pitchFamily="49" charset="0"/>
              </a:rPr>
              <a:t>датасет</a:t>
            </a:r>
            <a:r>
              <a:rPr lang="ru-RU" sz="2800" dirty="0" smtClean="0">
                <a:latin typeface="Lucida Console" panose="020B0609040504020204" pitchFamily="49" charset="0"/>
              </a:rPr>
              <a:t> 0.9</a:t>
            </a:r>
            <a:r>
              <a:rPr lang="en-US" sz="2800" dirty="0" smtClean="0">
                <a:latin typeface="Lucida Console" panose="020B0609040504020204" pitchFamily="49" charset="0"/>
              </a:rPr>
              <a:t>6796</a:t>
            </a:r>
          </a:p>
          <a:p>
            <a:endParaRPr lang="ru-RU" sz="2800" dirty="0">
              <a:latin typeface="Lucida Console" panose="020B0609040504020204" pitchFamily="49" charset="0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7037070" y="4011613"/>
            <a:ext cx="4636770" cy="1472248"/>
            <a:chOff x="7041833" y="4183063"/>
            <a:chExt cx="4636770" cy="14722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8698" y="4192271"/>
              <a:ext cx="1463040" cy="1463040"/>
            </a:xfrm>
            <a:prstGeom prst="rect">
              <a:avLst/>
            </a:prstGeom>
          </p:spPr>
        </p:pic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5563" y="4183063"/>
              <a:ext cx="1463040" cy="1463040"/>
            </a:xfrm>
            <a:prstGeom prst="rect">
              <a:avLst/>
            </a:prstGeom>
          </p:spPr>
        </p:pic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1833" y="4183063"/>
              <a:ext cx="1463040" cy="1463040"/>
            </a:xfrm>
            <a:prstGeom prst="rect">
              <a:avLst/>
            </a:prstGeom>
          </p:spPr>
        </p:pic>
      </p:grpSp>
      <p:grpSp>
        <p:nvGrpSpPr>
          <p:cNvPr id="11" name="Группа 10"/>
          <p:cNvGrpSpPr/>
          <p:nvPr/>
        </p:nvGrpSpPr>
        <p:grpSpPr>
          <a:xfrm>
            <a:off x="7037070" y="1396206"/>
            <a:ext cx="4627244" cy="1463040"/>
            <a:chOff x="7046596" y="1091406"/>
            <a:chExt cx="4627244" cy="1463040"/>
          </a:xfrm>
        </p:grpSpPr>
        <p:pic>
          <p:nvPicPr>
            <p:cNvPr id="4" name="Рисунок 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8698" y="1091406"/>
              <a:ext cx="1463040" cy="1463040"/>
            </a:xfrm>
            <a:prstGeom prst="rect">
              <a:avLst/>
            </a:prstGeom>
          </p:spPr>
        </p:pic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6596" y="1091406"/>
              <a:ext cx="1463040" cy="1463040"/>
            </a:xfrm>
            <a:prstGeom prst="rect">
              <a:avLst/>
            </a:prstGeom>
          </p:spPr>
        </p:pic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0800" y="1091406"/>
              <a:ext cx="1463040" cy="1463040"/>
            </a:xfrm>
            <a:prstGeom prst="rect">
              <a:avLst/>
            </a:prstGeom>
          </p:spPr>
        </p:pic>
      </p:grpSp>
      <p:cxnSp>
        <p:nvCxnSpPr>
          <p:cNvPr id="20" name="Прямая соединительная линия 19"/>
          <p:cNvCxnSpPr/>
          <p:nvPr/>
        </p:nvCxnSpPr>
        <p:spPr>
          <a:xfrm>
            <a:off x="0" y="3343275"/>
            <a:ext cx="12240000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763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0EBA8B-A8E7-4BB5-ACDA-2B0E7CA4B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157" y="1531031"/>
            <a:ext cx="4491843" cy="354101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29060-8812-4494-BB5A-F295D154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Доработка лучшей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D4947F-8B75-4D60-9E07-53C128CD2A9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7629" y="1690688"/>
            <a:ext cx="10515600" cy="199823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Заменили функцию активации на </a:t>
            </a:r>
            <a:r>
              <a:rPr lang="en-US" dirty="0"/>
              <a:t>GELU</a:t>
            </a:r>
            <a:endParaRPr lang="ru-RU" dirty="0"/>
          </a:p>
          <a:p>
            <a:r>
              <a:rPr lang="ru-RU" dirty="0"/>
              <a:t>Разделили </a:t>
            </a:r>
            <a:r>
              <a:rPr lang="ru-RU" dirty="0" err="1"/>
              <a:t>датасет</a:t>
            </a:r>
            <a:r>
              <a:rPr lang="ru-RU" dirty="0"/>
              <a:t> на 90% </a:t>
            </a:r>
            <a:r>
              <a:rPr lang="en-US" dirty="0"/>
              <a:t>train</a:t>
            </a:r>
            <a:r>
              <a:rPr lang="ru-RU" dirty="0"/>
              <a:t> и </a:t>
            </a:r>
            <a:r>
              <a:rPr lang="en-US" dirty="0"/>
              <a:t>10% validation</a:t>
            </a:r>
          </a:p>
          <a:p>
            <a:r>
              <a:rPr lang="ru-RU" dirty="0"/>
              <a:t>Обучили сначала на шумных данных (50 эпох)</a:t>
            </a:r>
          </a:p>
          <a:p>
            <a:r>
              <a:rPr lang="ru-RU" dirty="0"/>
              <a:t>Обучили на чистых данных (100 эпох)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53E17-6E56-4961-B1ED-C4EE0307BAD5}"/>
              </a:ext>
            </a:extLst>
          </p:cNvPr>
          <p:cNvSpPr txBox="1"/>
          <p:nvPr/>
        </p:nvSpPr>
        <p:spPr>
          <a:xfrm>
            <a:off x="1478476" y="3986927"/>
            <a:ext cx="44433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accuracy=0.9908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precision=0.969626168224299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recall=0.9764705882352941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f1=0.9730363423212193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roc_auc</a:t>
            </a:r>
            <a:r>
              <a:rPr lang="en-US" sz="2400" dirty="0"/>
              <a:t>=0.9851027639971652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760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815" y="0"/>
            <a:ext cx="4997185" cy="561575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3BA5E-011F-40A8-ABEF-22028D180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0347" y="1630590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55631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Words>153</Words>
  <Application>Microsoft Office PowerPoint</Application>
  <PresentationFormat>Широкоэкранный</PresentationFormat>
  <Paragraphs>54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Bahnschrift SemiBold</vt:lpstr>
      <vt:lpstr>Calibri</vt:lpstr>
      <vt:lpstr>Calibri Light</vt:lpstr>
      <vt:lpstr>Lucida Console</vt:lpstr>
      <vt:lpstr>Тема Office</vt:lpstr>
      <vt:lpstr>Защита проекта</vt:lpstr>
      <vt:lpstr>План</vt:lpstr>
      <vt:lpstr>Способы очистки</vt:lpstr>
      <vt:lpstr>UNet</vt:lpstr>
      <vt:lpstr>UNet + N2V</vt:lpstr>
      <vt:lpstr>ResNet</vt:lpstr>
      <vt:lpstr>ResNet + N2V</vt:lpstr>
      <vt:lpstr>Среднее пикселей вокруг шумного пикселя</vt:lpstr>
      <vt:lpstr>Лучший способ</vt:lpstr>
      <vt:lpstr>Дисбаланс класса</vt:lpstr>
      <vt:lpstr>Анализ моделей</vt:lpstr>
      <vt:lpstr>Выбор лучшей модели для классификации</vt:lpstr>
      <vt:lpstr>Inception v1</vt:lpstr>
      <vt:lpstr>Доработка лучшей модели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проекта</dc:title>
  <dc:creator>loke s1mple</dc:creator>
  <cp:lastModifiedBy>BERSEK</cp:lastModifiedBy>
  <cp:revision>16</cp:revision>
  <dcterms:created xsi:type="dcterms:W3CDTF">2025-12-19T12:28:32Z</dcterms:created>
  <dcterms:modified xsi:type="dcterms:W3CDTF">2025-12-19T16:26:48Z</dcterms:modified>
</cp:coreProperties>
</file>